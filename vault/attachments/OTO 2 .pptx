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y="5143500" cx="9144000"/>
  <p:notesSz cx="6858000" cy="9144000"/>
  <p:embeddedFontLst>
    <p:embeddedFont>
      <p:font typeface="Helvetica Neue"/>
      <p:regular r:id="rId108"/>
      <p:bold r:id="rId109"/>
      <p:italic r:id="rId110"/>
      <p:boldItalic r:id="rId111"/>
    </p:embeddedFont>
    <p:embeddedFont>
      <p:font typeface="Helvetica Neue Light"/>
      <p:regular r:id="rId112"/>
      <p:bold r:id="rId113"/>
      <p:italic r:id="rId114"/>
      <p:boldItalic r:id="rId1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font" Target="fonts/HelveticaNeue-bold.fntdata"/><Relationship Id="rId108" Type="http://schemas.openxmlformats.org/officeDocument/2006/relationships/font" Target="fonts/HelveticaNeue-regular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5" Type="http://schemas.openxmlformats.org/officeDocument/2006/relationships/font" Target="fonts/HelveticaNeueLight-boldItalic.fntdata"/><Relationship Id="rId15" Type="http://schemas.openxmlformats.org/officeDocument/2006/relationships/slide" Target="slides/slide9.xml"/><Relationship Id="rId110" Type="http://schemas.openxmlformats.org/officeDocument/2006/relationships/font" Target="fonts/HelveticaNeue-italic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HelveticaNeueLight-italic.fntdata"/><Relationship Id="rId18" Type="http://schemas.openxmlformats.org/officeDocument/2006/relationships/slide" Target="slides/slide12.xml"/><Relationship Id="rId113" Type="http://schemas.openxmlformats.org/officeDocument/2006/relationships/font" Target="fonts/HelveticaNeueLight-bold.fntdata"/><Relationship Id="rId112" Type="http://schemas.openxmlformats.org/officeDocument/2006/relationships/font" Target="fonts/HelveticaNeueLight-regular.fntdata"/><Relationship Id="rId111" Type="http://schemas.openxmlformats.org/officeDocument/2006/relationships/font" Target="fonts/HelveticaNeue-boldItalic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eeeadd85f_2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6eeeadd85f_2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eeeadd85f_2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6eeeadd85f_2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eeeadd85f_2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6eeeadd85f_2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eeeadd85f_2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6eeeadd85f_2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eeeadd85f_2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6eeeadd85f_2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eeeadd85f_2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6eeeadd85f_2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eeeadd85f_2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6eeeadd85f_2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eeeadd85f_2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6eeeadd85f_2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eeeadd85f_2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6eeeadd85f_2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eeeadd85f_2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6eeeadd85f_2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eeeadd85f_2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6eeeadd85f_2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eeeadd85f_2_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6eeeadd85f_2_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eeeadd85f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6eeeadd85f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eeeadd85f_2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6eeeadd85f_2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eeeadd85f_2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6eeeadd85f_2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6eeeadd85f_2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6eeeadd85f_2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eeeadd85f_2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6eeeadd85f_2_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6eeeadd85f_2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6eeeadd85f_2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eeeadd85f_2_1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6eeeadd85f_2_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eeeadd85f_2_1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6eeeadd85f_2_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6eeeadd85f_2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6eeeadd85f_2_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eeeadd85f_2_1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6eeeadd85f_2_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eeeadd85f_2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6eeeadd85f_2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eeeadd85f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6eeeadd85f_2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eeeadd85f_2_1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6eeeadd85f_2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eeeadd85f_2_1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6eeeadd85f_2_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eeeadd85f_2_1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6eeeadd85f_2_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eeeadd85f_2_1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6eeeadd85f_2_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eeeadd85f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6eeeadd85f_2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f254aa278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af254aa278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af254aa278_1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af254aa278_1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af254aa278_1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af254aa278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af254aa278_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af254aa278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eeeadd85f_2_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6eeeadd85f_2_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eeeadd85f_2_1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6eeeadd85f_2_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eeeadd85f_2_1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6eeeadd85f_2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eeeadd85f_2_2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6eeeadd85f_2_2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6eeeadd85f_2_2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6eeeadd85f_2_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6eeeadd85f_2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6eeeadd85f_2_2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6eeeadd85f_2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6eeeadd85f_2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eeeadd85f_2_2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6eeeadd85f_2_2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6eeeadd85f_2_2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6eeeadd85f_2_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6eeeadd85f_2_2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6eeeadd85f_2_2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6eeeadd85f_2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6eeeadd85f_2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6eeeadd85f_2_2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6eeeadd85f_2_2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6eeeadd85f_2_2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6eeeadd85f_2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6eeeadd85f_2_2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6eeeadd85f_2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6eeeadd85f_2_2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6eeeadd85f_2_2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6eeeadd85f_2_2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6eeeadd85f_2_2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eeeadd85f_2_2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6eeeadd85f_2_2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6eeeadd85f_2_2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6eeeadd85f_2_2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6eeeadd85f_2_2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6eeeadd85f_2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6eeeadd85f_2_2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6eeeadd85f_2_2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6eeeadd85f_2_2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6eeeadd85f_2_2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eeeadd85f_2_2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6eeeadd85f_2_2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6eeeadd85f_2_2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6eeeadd85f_2_2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6eeeadd85f_2_2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6eeeadd85f_2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6eeeadd85f_2_2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6eeeadd85f_2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6eeeadd85f_2_2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6eeeadd85f_2_2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6eeeadd85f_2_2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6eeeadd85f_2_2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6eeeadd85f_2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6eeeadd85f_2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6eeeadd85f_2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6eeeadd85f_2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eeadd85f_2_3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6eeeadd85f_2_3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6eeeadd85f_2_3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6eeeadd85f_2_3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6eeeadd85f_2_3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6eeeadd85f_2_3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6eeeadd85f_2_3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6eeeadd85f_2_3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6eeeadd85f_2_3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6eeeadd85f_2_3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6eeeadd85f_2_3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6eeeadd85f_2_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6eeeadd85f_2_3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6eeeadd85f_2_3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eeeadd85f_2_3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6eeeadd85f_2_3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6eeeadd85f_2_3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6eeeadd85f_2_3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6eeeadd85f_2_3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6eeeadd85f_2_3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6eeeadd85f_2_3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6eeeadd85f_2_3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eeeadd85f_2_3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6eeeadd85f_2_3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6eeeadd85f_2_3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6eeeadd85f_2_3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6eeeadd85f_2_3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6eeeadd85f_2_3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6eeeadd85f_2_3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6eeeadd85f_2_3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6eeeadd85f_2_3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6eeeadd85f_2_3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6eeeadd85f_2_3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6eeeadd85f_2_3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6eeeadd85f_2_3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6eeeadd85f_2_3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6eeeadd85f_2_3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6eeeadd85f_2_3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6eeeadd85f_2_3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6eeeadd85f_2_3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6eeeadd85f_2_3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6eeeadd85f_2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6eeeadd85f_2_3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6eeeadd85f_2_3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6eeeadd85f_2_3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6eeeadd85f_2_3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6eeeadd85f_2_3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6eeeadd85f_2_3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6eeeadd85f_2_4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6eeeadd85f_2_4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6eeeadd85f_2_4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6eeeadd85f_2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6eeeadd85f_2_4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6eeeadd85f_2_4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6eeeadd85f_2_4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6eeeadd85f_2_4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6eeeadd85f_2_4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6eeeadd85f_2_4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6eeeadd85f_2_4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6eeeadd85f_2_4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6eeeadd85f_2_4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6eeeadd85f_2_4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6eeeadd85f_2_4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6eeeadd85f_2_4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6eeeadd85f_2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6eeeadd85f_2_4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6eeeadd85f_2_4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6eeeadd85f_2_4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6eeeadd85f_2_4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6eeeadd85f_2_4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6eeeadd85f_2_4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6eeeadd85f_2_4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6eeeadd85f_2_4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6eeeadd85f_2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6eeeadd85f_2_4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6eeeadd85f_2_4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6eeeadd85f_2_4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6eeeadd85f_2_4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12726" y="1701105"/>
            <a:ext cx="5518547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1812726" y="863947"/>
            <a:ext cx="5518547" cy="1741289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1812726" y="2658814"/>
            <a:ext cx="5518547" cy="59605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1998398" y="152455"/>
            <a:ext cx="5143501" cy="343078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1812726" y="3542854"/>
            <a:ext cx="5518547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812726" y="4299644"/>
            <a:ext cx="5518547" cy="59605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336787" y="323701"/>
            <a:ext cx="6539881" cy="4359921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1645295" y="334863"/>
            <a:ext cx="2812852" cy="2102942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645295" y="2491383"/>
            <a:ext cx="2812852" cy="2169914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1645295" y="133945"/>
            <a:ext cx="5853410" cy="113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1645295" y="133945"/>
            <a:ext cx="5853410" cy="113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1645295" y="1366242"/>
            <a:ext cx="5853410" cy="3315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/>
          <p:nvPr>
            <p:ph idx="2" type="pic"/>
          </p:nvPr>
        </p:nvSpPr>
        <p:spPr>
          <a:xfrm>
            <a:off x="3297845" y="1364009"/>
            <a:ext cx="4972720" cy="331514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1645295" y="133945"/>
            <a:ext cx="5853410" cy="113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1645295" y="1366242"/>
            <a:ext cx="2812852" cy="3315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sz="1400"/>
            </a:lvl1pPr>
            <a:lvl2pPr indent="-36195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sz="1400"/>
            </a:lvl2pPr>
            <a:lvl3pPr indent="-3619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sz="1400"/>
            </a:lvl3pPr>
            <a:lvl4pPr indent="-3619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sz="1400"/>
            </a:lvl4pPr>
            <a:lvl5pPr indent="-3619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sz="1400"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4482789" y="4902398"/>
            <a:ext cx="174851" cy="177404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1645295" y="669726"/>
            <a:ext cx="5853410" cy="380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/>
          <p:nvPr>
            <p:ph idx="2" type="pic"/>
          </p:nvPr>
        </p:nvSpPr>
        <p:spPr>
          <a:xfrm>
            <a:off x="4665762" y="2652117"/>
            <a:ext cx="3192933" cy="2129731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22"/>
          <p:cNvSpPr/>
          <p:nvPr>
            <p:ph idx="3" type="pic"/>
          </p:nvPr>
        </p:nvSpPr>
        <p:spPr>
          <a:xfrm>
            <a:off x="4572000" y="468808"/>
            <a:ext cx="3094137" cy="20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" name="Google Shape;89;p22"/>
          <p:cNvSpPr/>
          <p:nvPr>
            <p:ph idx="4" type="pic"/>
          </p:nvPr>
        </p:nvSpPr>
        <p:spPr>
          <a:xfrm>
            <a:off x="-109389" y="468808"/>
            <a:ext cx="6318870" cy="421258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1812726" y="3355330"/>
            <a:ext cx="5518547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i="1" sz="1200"/>
            </a:lvl1pPr>
            <a:lvl2pPr indent="-2921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1812726" y="2249091"/>
            <a:ext cx="55185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21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>
            <p:ph idx="2" type="pic"/>
          </p:nvPr>
        </p:nvSpPr>
        <p:spPr>
          <a:xfrm>
            <a:off x="642101" y="0"/>
            <a:ext cx="7859799" cy="5243959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sz="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645295" y="133945"/>
            <a:ext cx="5853410" cy="113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645295" y="1366242"/>
            <a:ext cx="5853410" cy="3315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82789" y="4902398"/>
            <a:ext cx="174851" cy="179127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801135" y="2246877"/>
            <a:ext cx="7541731" cy="649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500"/>
              <a:t>Look at what just happened here…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Somehow</a:t>
            </a:r>
            <a:r>
              <a:rPr lang="en" sz="3100"/>
              <a:t>,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something</a:t>
            </a:r>
            <a:r>
              <a:rPr lang="en" sz="3100"/>
              <a:t>,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somewhere</a:t>
            </a:r>
            <a:r>
              <a:rPr lang="en" sz="3100"/>
              <a:t>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got your attention</a:t>
            </a:r>
            <a:r>
              <a:rPr lang="en" sz="3100"/>
              <a:t> and told you about the </a:t>
            </a:r>
            <a:r>
              <a:rPr lang="en" sz="3100">
                <a:solidFill>
                  <a:srgbClr val="FF00FF"/>
                </a:solidFill>
              </a:rPr>
              <a:t>[NAME OF YOUR FIRST PRODUCT]</a:t>
            </a:r>
            <a:r>
              <a:rPr lang="en" sz="3100"/>
              <a:t>...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were curious…</a:t>
            </a:r>
            <a:endParaRPr sz="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type="title"/>
          </p:nvPr>
        </p:nvSpPr>
        <p:spPr>
          <a:xfrm>
            <a:off x="1283543" y="2054256"/>
            <a:ext cx="6576915" cy="1034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And you came to my site…</a:t>
            </a:r>
            <a:endParaRPr sz="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</a:t>
            </a:r>
            <a:r>
              <a:rPr b="1" lang="en" sz="33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became interested</a:t>
            </a:r>
            <a:r>
              <a:rPr b="0" i="0" lang="en" sz="3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what I had to say… </a:t>
            </a: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/>
          <p:nvPr>
            <p:ph type="title"/>
          </p:nvPr>
        </p:nvSpPr>
        <p:spPr>
          <a:xfrm>
            <a:off x="1102326" y="2069492"/>
            <a:ext cx="6939349" cy="1004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600"/>
              <a:t>And you liked what you read…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And you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pulled the trigger</a:t>
            </a:r>
            <a:r>
              <a:rPr lang="en" sz="3100"/>
              <a:t> on the </a:t>
            </a:r>
            <a:r>
              <a:rPr lang="en" sz="3100">
                <a:solidFill>
                  <a:srgbClr val="FF00FF"/>
                </a:solidFill>
              </a:rPr>
              <a:t>[FIRST PRODUCT NAME]</a:t>
            </a:r>
            <a:r>
              <a:rPr lang="en" sz="3100"/>
              <a:t> book…</a:t>
            </a:r>
            <a:endParaRPr sz="3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929536" y="1795649"/>
            <a:ext cx="7284928" cy="155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That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Chain Of Events</a:t>
            </a:r>
            <a:r>
              <a:rPr lang="en" sz="3100">
                <a:solidFill>
                  <a:srgbClr val="B41600"/>
                </a:solidFill>
              </a:rPr>
              <a:t> Where You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Made The Right Decisions</a:t>
            </a:r>
            <a:r>
              <a:rPr lang="en" sz="3100">
                <a:solidFill>
                  <a:srgbClr val="B41600"/>
                </a:solidFill>
              </a:rPr>
              <a:t> At </a:t>
            </a:r>
            <a:endParaRPr sz="3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200"/>
              <a:buFont typeface="Helvetica Neue"/>
              <a:buNone/>
            </a:pPr>
            <a:r>
              <a:rPr lang="en" sz="3100">
                <a:solidFill>
                  <a:srgbClr val="B41600"/>
                </a:solidFill>
              </a:rPr>
              <a:t>The Right Time…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4"/>
          <p:cNvSpPr txBox="1"/>
          <p:nvPr>
            <p:ph type="title"/>
          </p:nvPr>
        </p:nvSpPr>
        <p:spPr>
          <a:xfrm>
            <a:off x="1040190" y="2013235"/>
            <a:ext cx="7063621" cy="1117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tells Me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Something</a:t>
            </a:r>
            <a:r>
              <a:rPr lang="en" sz="3100"/>
              <a:t> About You</a:t>
            </a:r>
            <a:endParaRPr sz="3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/>
          <p:nvPr>
            <p:ph type="title"/>
          </p:nvPr>
        </p:nvSpPr>
        <p:spPr>
          <a:xfrm>
            <a:off x="907714" y="1602525"/>
            <a:ext cx="7328572" cy="1938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100"/>
              <a:t>That something is that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you’re not just another curious tire-kicker</a:t>
            </a:r>
            <a:r>
              <a:rPr lang="en" sz="3100"/>
              <a:t> who’s dabbling with the idea of </a:t>
            </a:r>
            <a:r>
              <a:rPr lang="en" sz="3100">
                <a:solidFill>
                  <a:srgbClr val="FF00FF"/>
                </a:solidFill>
              </a:rPr>
              <a:t>[WHAT THEY WANT TO BECOME]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No, that tells me that you’re not only serious…</a:t>
            </a:r>
            <a:endParaRPr sz="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you’re not only committed to this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400"/>
              <a:buFont typeface="Helvetica Neue"/>
              <a:buNone/>
            </a:pPr>
            <a:r>
              <a:t/>
            </a:r>
            <a:endParaRPr b="1" sz="3400">
              <a:solidFill>
                <a:srgbClr val="B416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400"/>
              <a:buFont typeface="Helvetica Neue"/>
              <a:buNone/>
            </a:pPr>
            <a:r>
              <a:rPr b="1" lang="en" sz="34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that you’re invested in this</a:t>
            </a:r>
            <a:endParaRPr sz="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type="title"/>
          </p:nvPr>
        </p:nvSpPr>
        <p:spPr>
          <a:xfrm>
            <a:off x="914858" y="1958076"/>
            <a:ext cx="7314284" cy="1227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You’re Invested </a:t>
            </a:r>
            <a:r>
              <a:rPr b="1" lang="en" sz="3100"/>
              <a:t>In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The Success</a:t>
            </a:r>
            <a:r>
              <a:rPr lang="en" sz="3100"/>
              <a:t> Of </a:t>
            </a:r>
            <a:r>
              <a:rPr lang="en" sz="3100">
                <a:solidFill>
                  <a:srgbClr val="FF00FF"/>
                </a:solidFill>
              </a:rPr>
              <a:t>[THING THEY’RE INVESTED IN]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 txBox="1"/>
          <p:nvPr>
            <p:ph type="title"/>
          </p:nvPr>
        </p:nvSpPr>
        <p:spPr>
          <a:xfrm>
            <a:off x="1025344" y="1701105"/>
            <a:ext cx="7093311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33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because of that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- what I say next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will be crucial to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3100"/>
              <a:t>the success of your </a:t>
            </a:r>
            <a:r>
              <a:rPr lang="en" sz="3100">
                <a:solidFill>
                  <a:srgbClr val="FF00FF"/>
                </a:solidFill>
              </a:rPr>
              <a:t>[INSERT]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1"/>
          <p:cNvSpPr txBox="1"/>
          <p:nvPr>
            <p:ph type="title"/>
          </p:nvPr>
        </p:nvSpPr>
        <p:spPr>
          <a:xfrm>
            <a:off x="1139235" y="1739112"/>
            <a:ext cx="6865530" cy="166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100"/>
              <a:t>They Say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Your </a:t>
            </a:r>
            <a:r>
              <a:rPr b="1" lang="en" sz="3100"/>
              <a:t>[RESULT THEY WANT]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 Is Always Going To Be The Average</a:t>
            </a:r>
            <a:r>
              <a:rPr lang="en" sz="3100"/>
              <a:t> Of Your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5 Closest Friends’</a:t>
            </a:r>
            <a:endParaRPr sz="3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2"/>
          <p:cNvSpPr txBox="1"/>
          <p:nvPr>
            <p:ph type="title"/>
          </p:nvPr>
        </p:nvSpPr>
        <p:spPr>
          <a:xfrm>
            <a:off x="828519" y="2104690"/>
            <a:ext cx="7486962" cy="93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"/>
              <a:buNone/>
            </a:pPr>
            <a:r>
              <a:rPr lang="en" sz="3100"/>
              <a:t>Think about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YOUR friends</a:t>
            </a:r>
            <a:r>
              <a:rPr lang="en" sz="3100"/>
              <a:t> for a second</a:t>
            </a:r>
            <a:endParaRPr sz="3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3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it true for you too?</a:t>
            </a:r>
            <a:endParaRPr sz="3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Pretty close, right?</a:t>
            </a:r>
            <a:endParaRPr sz="3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Now…</a:t>
            </a:r>
            <a:endParaRPr sz="3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754923" y="1876294"/>
            <a:ext cx="7634153" cy="1390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29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if....</a:t>
            </a:r>
            <a:b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3100"/>
              <a:t>before you even finish watching this video</a:t>
            </a:r>
            <a:endParaRPr sz="3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introduced you to a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new group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friends</a:t>
            </a:r>
            <a:endParaRPr sz="3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8"/>
          <p:cNvSpPr txBox="1"/>
          <p:nvPr>
            <p:ph type="title"/>
          </p:nvPr>
        </p:nvSpPr>
        <p:spPr>
          <a:xfrm>
            <a:off x="976119" y="1984288"/>
            <a:ext cx="7191761" cy="117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who </a:t>
            </a:r>
            <a:r>
              <a:rPr lang="en" sz="3100"/>
              <a:t>are all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successful </a:t>
            </a:r>
            <a:r>
              <a:rPr b="1" lang="en" sz="3100">
                <a:solidFill>
                  <a:srgbClr val="FF00FF"/>
                </a:solidFill>
              </a:rPr>
              <a:t>[INSERT]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9"/>
          <p:cNvSpPr txBox="1"/>
          <p:nvPr>
            <p:ph type="title"/>
          </p:nvPr>
        </p:nvSpPr>
        <p:spPr>
          <a:xfrm>
            <a:off x="923081" y="1906097"/>
            <a:ext cx="7297839" cy="133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100"/>
              <a:t>We Take A Group Of Successful </a:t>
            </a:r>
            <a:r>
              <a:rPr lang="en" sz="3100">
                <a:solidFill>
                  <a:srgbClr val="FF00FF"/>
                </a:solidFill>
              </a:rPr>
              <a:t>[INSERT]</a:t>
            </a:r>
            <a:r>
              <a:rPr lang="en" sz="3100"/>
              <a:t> And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Make Them Your Best Friends</a:t>
            </a:r>
            <a:r>
              <a:rPr lang="en" sz="3100"/>
              <a:t> For The Next 12 Months</a:t>
            </a:r>
            <a:endParaRPr sz="3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0"/>
          <p:cNvSpPr txBox="1"/>
          <p:nvPr>
            <p:ph type="title"/>
          </p:nvPr>
        </p:nvSpPr>
        <p:spPr>
          <a:xfrm>
            <a:off x="1216960" y="1506159"/>
            <a:ext cx="6710079" cy="2131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" sz="3100"/>
              <a:t>During which time these friends will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 willing to do absolutely anything</a:t>
            </a:r>
            <a:r>
              <a:rPr lang="en" sz="3100"/>
              <a:t> under the sun to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make sure you succeed</a:t>
            </a:r>
            <a:r>
              <a:rPr lang="en" sz="3100"/>
              <a:t> doing what they do</a:t>
            </a:r>
            <a:endParaRPr sz="3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1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The way they do it…</a:t>
            </a:r>
            <a:endParaRPr sz="3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Then…</a:t>
            </a:r>
            <a:endParaRPr sz="3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3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say they were there to help you…</a:t>
            </a:r>
            <a:endParaRPr sz="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4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#1 THING THEY WANT TO ACHIEVE]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5"/>
          <p:cNvSpPr txBox="1"/>
          <p:nvPr>
            <p:ph type="title"/>
          </p:nvPr>
        </p:nvSpPr>
        <p:spPr>
          <a:xfrm>
            <a:off x="1323521" y="1701105"/>
            <a:ext cx="6497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#2 THING THEY WANT TO ACHIEVE]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6"/>
          <p:cNvSpPr txBox="1"/>
          <p:nvPr>
            <p:ph type="title"/>
          </p:nvPr>
        </p:nvSpPr>
        <p:spPr>
          <a:xfrm>
            <a:off x="1323521" y="1701105"/>
            <a:ext cx="6497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#3 THING THEY WANT TO ACHIEVE]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7"/>
          <p:cNvSpPr txBox="1"/>
          <p:nvPr>
            <p:ph type="title"/>
          </p:nvPr>
        </p:nvSpPr>
        <p:spPr>
          <a:xfrm>
            <a:off x="1323521" y="1701105"/>
            <a:ext cx="6497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#4 THING THEY WANT TO ACHIEVE]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8"/>
          <p:cNvSpPr txBox="1"/>
          <p:nvPr>
            <p:ph type="title"/>
          </p:nvPr>
        </p:nvSpPr>
        <p:spPr>
          <a:xfrm>
            <a:off x="1323521" y="1701105"/>
            <a:ext cx="6497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#5 THING THEY WANT TO ACHIEVE]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9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4200"/>
              <a:buFont typeface="Helvetica Neue"/>
              <a:buNone/>
            </a:pP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“What If” </a:t>
            </a:r>
            <a:b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Question...</a:t>
            </a:r>
            <a:endParaRPr sz="3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And Here’s The Answer...</a:t>
            </a:r>
            <a:endParaRPr sz="3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Have a look at this</a:t>
            </a:r>
            <a:endParaRPr sz="3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2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>
                <a:solidFill>
                  <a:srgbClr val="FF00FF"/>
                </a:solidFill>
              </a:rPr>
              <a:t>[INSERT SCREENSHOT]</a:t>
            </a:r>
            <a:endParaRPr sz="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3"/>
          <p:cNvSpPr txBox="1"/>
          <p:nvPr>
            <p:ph type="title"/>
          </p:nvPr>
        </p:nvSpPr>
        <p:spPr>
          <a:xfrm>
            <a:off x="1114939" y="1701105"/>
            <a:ext cx="6914123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a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private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31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slack chat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4"/>
          <p:cNvSpPr txBox="1"/>
          <p:nvPr>
            <p:ph type="title"/>
          </p:nvPr>
        </p:nvSpPr>
        <p:spPr>
          <a:xfrm>
            <a:off x="1114939" y="1701105"/>
            <a:ext cx="6914123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lang="en" sz="3100"/>
              <a:t>It’s not just any </a:t>
            </a:r>
            <a:r>
              <a:rPr lang="en" sz="3100">
                <a:solidFill>
                  <a:srgbClr val="FF00FF"/>
                </a:solidFill>
              </a:rPr>
              <a:t>chat</a:t>
            </a:r>
            <a:r>
              <a:rPr lang="en" sz="3100"/>
              <a:t> -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it’s a private mastermind</a:t>
            </a:r>
            <a:r>
              <a:rPr lang="en" sz="3100"/>
              <a:t> where the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latest strategies</a:t>
            </a:r>
            <a:r>
              <a:rPr lang="en" sz="3100"/>
              <a:t>,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techniques</a:t>
            </a:r>
            <a:r>
              <a:rPr lang="en" sz="3100"/>
              <a:t> and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tactics</a:t>
            </a:r>
            <a:r>
              <a:rPr lang="en" sz="3100"/>
              <a:t> of the</a:t>
            </a:r>
            <a:r>
              <a:rPr lang="en" sz="3100">
                <a:solidFill>
                  <a:srgbClr val="FF00FF"/>
                </a:solidFill>
              </a:rPr>
              <a:t> [INSERT YOUR MARKET] </a:t>
            </a:r>
            <a:r>
              <a:rPr lang="en" sz="3100"/>
              <a:t>are discussed</a:t>
            </a:r>
            <a:endParaRPr sz="3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5"/>
          <p:cNvSpPr txBox="1"/>
          <p:nvPr>
            <p:ph type="title"/>
          </p:nvPr>
        </p:nvSpPr>
        <p:spPr>
          <a:xfrm>
            <a:off x="814046" y="2183420"/>
            <a:ext cx="7515909" cy="776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/>
              <a:t>It’s also largely responsible for my own success</a:t>
            </a:r>
            <a:endParaRPr sz="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6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It’s Called The</a:t>
            </a:r>
            <a:br>
              <a:rPr lang="en" sz="3100"/>
            </a:br>
            <a:r>
              <a:rPr b="1" lang="en" sz="3100">
                <a:solidFill>
                  <a:srgbClr val="FF00FF"/>
                </a:solidFill>
              </a:rPr>
              <a:t>[OTO 2 NAME]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7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100"/>
              <a:t>And it’s composed of </a:t>
            </a: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highly successful</a:t>
            </a:r>
            <a:r>
              <a:rPr lang="en" sz="3100"/>
              <a:t> </a:t>
            </a:r>
            <a:r>
              <a:rPr lang="en" sz="3100">
                <a:solidFill>
                  <a:srgbClr val="FF00FF"/>
                </a:solidFill>
              </a:rPr>
              <a:t>[INSERT WHAT TYPE OF PEOPLE]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8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100"/>
              <a:t>Who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have a proven track record</a:t>
            </a:r>
            <a:r>
              <a:rPr lang="en" sz="3100"/>
              <a:t> of crushing it </a:t>
            </a:r>
            <a:endParaRPr sz="3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9"/>
          <p:cNvSpPr txBox="1"/>
          <p:nvPr>
            <p:ph type="title"/>
          </p:nvPr>
        </p:nvSpPr>
        <p:spPr>
          <a:xfrm>
            <a:off x="1181930" y="1794662"/>
            <a:ext cx="6780140" cy="155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100"/>
              <a:t>Their results range from </a:t>
            </a:r>
            <a:r>
              <a:rPr lang="en" sz="3100" u="sng">
                <a:solidFill>
                  <a:srgbClr val="FF00FF"/>
                </a:solidFill>
              </a:rPr>
              <a:t>X</a:t>
            </a:r>
            <a:r>
              <a:rPr lang="en" sz="3100"/>
              <a:t> to </a:t>
            </a:r>
            <a:r>
              <a:rPr lang="en" sz="3100" u="sng">
                <a:solidFill>
                  <a:srgbClr val="FF00FF"/>
                </a:solidFill>
              </a:rPr>
              <a:t>Z</a:t>
            </a:r>
            <a:endParaRPr sz="3100" u="sng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</a:t>
            </a:r>
            <a:r>
              <a:rPr lang="en">
                <a:solidFill>
                  <a:srgbClr val="FF00FF"/>
                </a:solidFill>
              </a:rPr>
              <a:t>[INSERT]</a:t>
            </a:r>
            <a:r>
              <a:rPr lang="en"/>
              <a:t> 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me…</a:t>
            </a:r>
            <a:endParaRPr sz="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1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Others </a:t>
            </a:r>
            <a:r>
              <a:rPr lang="en">
                <a:solidFill>
                  <a:srgbClr val="FF00FF"/>
                </a:solidFill>
              </a:rPr>
              <a:t>[INSERT]</a:t>
            </a:r>
            <a:endParaRPr sz="5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2"/>
          <p:cNvSpPr txBox="1"/>
          <p:nvPr>
            <p:ph type="title"/>
          </p:nvPr>
        </p:nvSpPr>
        <p:spPr>
          <a:xfrm>
            <a:off x="1251154" y="1764729"/>
            <a:ext cx="6641692" cy="161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others </a:t>
            </a:r>
            <a:r>
              <a:rPr lang="en">
                <a:solidFill>
                  <a:srgbClr val="FF00FF"/>
                </a:solidFill>
              </a:rPr>
              <a:t>[INSERT]</a:t>
            </a:r>
            <a:endParaRPr sz="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3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Others focus on </a:t>
            </a:r>
            <a:r>
              <a:rPr lang="en">
                <a:solidFill>
                  <a:srgbClr val="FF00FF"/>
                </a:solidFill>
              </a:rPr>
              <a:t>[INSERT]</a:t>
            </a:r>
            <a:endParaRPr sz="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4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lang="en" sz="3100"/>
              <a:t>While others focus on </a:t>
            </a:r>
            <a:r>
              <a:rPr lang="en">
                <a:solidFill>
                  <a:srgbClr val="FF00FF"/>
                </a:solidFill>
              </a:rPr>
              <a:t>[INSERT]</a:t>
            </a:r>
            <a:endParaRPr sz="3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5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100"/>
              <a:t>The groups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interests are diverse</a:t>
            </a:r>
            <a:r>
              <a:rPr lang="en" sz="3100"/>
              <a:t>, but they all have </a:t>
            </a: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one thing in common</a:t>
            </a:r>
            <a:r>
              <a:rPr lang="en" sz="3100"/>
              <a:t>…</a:t>
            </a:r>
            <a:endParaRPr sz="3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6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They’re all </a:t>
            </a:r>
            <a:r>
              <a:rPr lang="en" sz="3700">
                <a:solidFill>
                  <a:srgbClr val="FF00FF"/>
                </a:solidFill>
              </a:rPr>
              <a:t>[INSERT TYPE OF PERSON]</a:t>
            </a:r>
            <a:r>
              <a:rPr lang="en" sz="3700"/>
              <a:t> who live a </a:t>
            </a:r>
            <a:r>
              <a:rPr lang="en" sz="3700">
                <a:solidFill>
                  <a:srgbClr val="FF00FF"/>
                </a:solidFill>
              </a:rPr>
              <a:t>freedom</a:t>
            </a:r>
            <a:r>
              <a:rPr lang="en" sz="3700"/>
              <a:t> lifestyle </a:t>
            </a:r>
            <a:endParaRPr sz="5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7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And In Just A Moment - </a:t>
            </a:r>
            <a:br>
              <a:rPr lang="en" sz="3100"/>
            </a:br>
            <a:r>
              <a:rPr lang="en" sz="3100"/>
              <a:t>You’re Going To Get A Shot At Joining This Elite Group Of </a:t>
            </a:r>
            <a:r>
              <a:rPr lang="en" sz="3100">
                <a:solidFill>
                  <a:srgbClr val="FF00FF"/>
                </a:solidFill>
              </a:rPr>
              <a:t>[TYPE OF PERSON]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8"/>
          <p:cNvSpPr txBox="1"/>
          <p:nvPr>
            <p:ph type="title"/>
          </p:nvPr>
        </p:nvSpPr>
        <p:spPr>
          <a:xfrm>
            <a:off x="698778" y="1701105"/>
            <a:ext cx="7746444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100"/>
              <a:t>And when you do - </a:t>
            </a:r>
            <a:br>
              <a:rPr lang="en" sz="3100"/>
            </a:br>
            <a:r>
              <a:rPr lang="en" sz="3100"/>
              <a:t>your life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never be</a:t>
            </a:r>
            <a:r>
              <a:rPr lang="en" sz="3100"/>
              <a:t> the same</a:t>
            </a:r>
            <a:endParaRPr sz="3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9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b="1"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Because...</a:t>
            </a:r>
            <a:br>
              <a:rPr lang="en" sz="3100"/>
            </a:br>
            <a:r>
              <a:rPr lang="en" sz="3100"/>
              <a:t>if you didn’t know already...</a:t>
            </a:r>
            <a:endParaRPr sz="3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This group of mentors…</a:t>
            </a:r>
            <a:br>
              <a:rPr lang="en" sz="3100"/>
            </a:br>
            <a:r>
              <a:rPr lang="en" sz="3100"/>
              <a:t>is the </a:t>
            </a:r>
            <a:r>
              <a:rPr lang="en" sz="3100">
                <a:solidFill>
                  <a:srgbClr val="B41600"/>
                </a:solidFill>
              </a:rPr>
              <a:t>key that unlocks</a:t>
            </a:r>
            <a:r>
              <a:rPr lang="en" sz="3100"/>
              <a:t> the door to greatness</a:t>
            </a:r>
            <a:endParaRPr sz="3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1"/>
          <p:cNvSpPr txBox="1"/>
          <p:nvPr>
            <p:ph type="title"/>
          </p:nvPr>
        </p:nvSpPr>
        <p:spPr>
          <a:xfrm>
            <a:off x="1173540" y="1701105"/>
            <a:ext cx="6796921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Without Franklin Pope</a:t>
            </a:r>
            <a:r>
              <a:rPr lang="en" sz="3100"/>
              <a:t> there would be no Thomas Edison...</a:t>
            </a:r>
            <a:endParaRPr sz="3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2"/>
          <p:cNvSpPr txBox="1"/>
          <p:nvPr>
            <p:ph type="title"/>
          </p:nvPr>
        </p:nvSpPr>
        <p:spPr>
          <a:xfrm>
            <a:off x="1085210" y="1852501"/>
            <a:ext cx="6973579" cy="143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" sz="3800"/>
              <a:t>and that means you’d be sitting in the dark right now...</a:t>
            </a:r>
            <a:endParaRPr sz="5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3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Without Sean Foley there would be no Tiger Woods…</a:t>
            </a:r>
            <a:endParaRPr sz="5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4"/>
          <p:cNvSpPr txBox="1"/>
          <p:nvPr>
            <p:ph type="title"/>
          </p:nvPr>
        </p:nvSpPr>
        <p:spPr>
          <a:xfrm>
            <a:off x="1058012" y="1958187"/>
            <a:ext cx="7027976" cy="122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 you didn’t know that...</a:t>
            </a:r>
            <a:endParaRPr sz="5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5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guess what?</a:t>
            </a:r>
            <a:endParaRPr sz="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6"/>
          <p:cNvSpPr txBox="1"/>
          <p:nvPr>
            <p:ph type="title"/>
          </p:nvPr>
        </p:nvSpPr>
        <p:spPr>
          <a:xfrm>
            <a:off x="745473" y="1906953"/>
            <a:ext cx="7653054" cy="1329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Without</a:t>
            </a:r>
            <a:r>
              <a:rPr lang="en" sz="3100" u="sng"/>
              <a:t>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someone named Max Talmey</a:t>
            </a:r>
            <a:r>
              <a:rPr lang="en" sz="3100"/>
              <a:t> </a:t>
            </a:r>
            <a:br>
              <a:rPr lang="en" sz="3100"/>
            </a:br>
            <a:r>
              <a:rPr lang="en" sz="3100"/>
              <a:t>- whom you probably </a:t>
            </a: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have never</a:t>
            </a:r>
            <a:r>
              <a:rPr lang="en" sz="3100"/>
              <a:t> heard of...</a:t>
            </a:r>
            <a:endParaRPr sz="3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87"/>
          <p:cNvSpPr txBox="1"/>
          <p:nvPr>
            <p:ph type="title"/>
          </p:nvPr>
        </p:nvSpPr>
        <p:spPr>
          <a:xfrm>
            <a:off x="983989" y="2194731"/>
            <a:ext cx="7176023" cy="75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" sz="3400"/>
              <a:t>There would be no Albert Einstein...</a:t>
            </a:r>
            <a:endParaRPr sz="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8"/>
          <p:cNvSpPr txBox="1"/>
          <p:nvPr>
            <p:ph type="title"/>
          </p:nvPr>
        </p:nvSpPr>
        <p:spPr>
          <a:xfrm>
            <a:off x="978222" y="2060637"/>
            <a:ext cx="7187557" cy="1022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this is the big secret they all know…</a:t>
            </a:r>
            <a:endParaRPr sz="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9"/>
          <p:cNvSpPr txBox="1"/>
          <p:nvPr>
            <p:ph type="title"/>
          </p:nvPr>
        </p:nvSpPr>
        <p:spPr>
          <a:xfrm>
            <a:off x="1071444" y="1915436"/>
            <a:ext cx="7001113" cy="1312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they don’t talk about</a:t>
            </a:r>
            <a:endParaRPr sz="5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0"/>
          <p:cNvSpPr txBox="1"/>
          <p:nvPr>
            <p:ph type="title"/>
          </p:nvPr>
        </p:nvSpPr>
        <p:spPr>
          <a:xfrm>
            <a:off x="1109265" y="2073008"/>
            <a:ext cx="6925471" cy="997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" sz="4000"/>
              <a:t>And the same applies to you</a:t>
            </a:r>
            <a:endParaRPr sz="5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1"/>
          <p:cNvSpPr txBox="1"/>
          <p:nvPr>
            <p:ph type="title"/>
          </p:nvPr>
        </p:nvSpPr>
        <p:spPr>
          <a:xfrm>
            <a:off x="1013252" y="1843515"/>
            <a:ext cx="7117496" cy="1456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Without a group of mentors</a:t>
            </a:r>
            <a:b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to be brutally honest... </a:t>
            </a:r>
            <a:endParaRPr sz="31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2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lang="en" sz="3100"/>
              <a:t>Your chances of</a:t>
            </a:r>
            <a:r>
              <a:rPr lang="en" sz="3100">
                <a:solidFill>
                  <a:srgbClr val="FF00FF"/>
                </a:solidFill>
              </a:rPr>
              <a:t> [RESULT THEY WANT]</a:t>
            </a:r>
            <a:r>
              <a:rPr lang="en" sz="3100"/>
              <a:t>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down to single digits</a:t>
            </a:r>
            <a:endParaRPr sz="31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3"/>
          <p:cNvSpPr txBox="1"/>
          <p:nvPr>
            <p:ph type="title"/>
          </p:nvPr>
        </p:nvSpPr>
        <p:spPr>
          <a:xfrm>
            <a:off x="808762" y="1532892"/>
            <a:ext cx="7526476" cy="207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I know, because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#1 reason behind the success of my very </a:t>
            </a:r>
            <a:r>
              <a:rPr b="1" lang="en" sz="3100">
                <a:solidFill>
                  <a:srgbClr val="FF00FF"/>
                </a:solidFill>
              </a:rPr>
              <a:t>[INSERT]</a:t>
            </a:r>
            <a:r>
              <a:rPr lang="en" sz="3100"/>
              <a:t> is the fact that I surrounded myself with people who were smarter than me</a:t>
            </a:r>
            <a:endParaRPr sz="3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4"/>
          <p:cNvSpPr txBox="1"/>
          <p:nvPr>
            <p:ph type="title"/>
          </p:nvPr>
        </p:nvSpPr>
        <p:spPr>
          <a:xfrm>
            <a:off x="1046887" y="1959731"/>
            <a:ext cx="7050226" cy="122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experienced than me</a:t>
            </a:r>
            <a:endParaRPr sz="5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5"/>
          <p:cNvSpPr txBox="1"/>
          <p:nvPr>
            <p:ph type="title"/>
          </p:nvPr>
        </p:nvSpPr>
        <p:spPr>
          <a:xfrm>
            <a:off x="1113581" y="1974428"/>
            <a:ext cx="6916839" cy="11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</a:pPr>
            <a:r>
              <a:rPr lang="en" sz="4100"/>
              <a:t>and Further ahead Than me</a:t>
            </a:r>
            <a:endParaRPr sz="5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96"/>
          <p:cNvSpPr txBox="1"/>
          <p:nvPr>
            <p:ph type="title"/>
          </p:nvPr>
        </p:nvSpPr>
        <p:spPr>
          <a:xfrm>
            <a:off x="1066737" y="1907121"/>
            <a:ext cx="7010526" cy="1329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3100"/>
              <a:t>This allowed me to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from their mistakes</a:t>
            </a:r>
            <a:r>
              <a:rPr lang="en" sz="3100"/>
              <a:t>,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 from their experiences</a:t>
            </a:r>
            <a:r>
              <a:rPr lang="en" sz="3100"/>
              <a:t> and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catch up to them faster</a:t>
            </a:r>
            <a:r>
              <a:rPr lang="en" sz="3100"/>
              <a:t> than I ever could alone</a:t>
            </a:r>
            <a:endParaRPr sz="31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7"/>
          <p:cNvSpPr txBox="1"/>
          <p:nvPr>
            <p:ph type="title"/>
          </p:nvPr>
        </p:nvSpPr>
        <p:spPr>
          <a:xfrm>
            <a:off x="1066737" y="1907121"/>
            <a:ext cx="7010526" cy="1329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By allowing me to see how they work from the inside</a:t>
            </a:r>
            <a:endParaRPr sz="5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8"/>
          <p:cNvSpPr txBox="1"/>
          <p:nvPr>
            <p:ph type="title"/>
          </p:nvPr>
        </p:nvSpPr>
        <p:spPr>
          <a:xfrm>
            <a:off x="906412" y="2041270"/>
            <a:ext cx="7331177" cy="1060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en" sz="4200"/>
              <a:t>So Here’s Where You Come In</a:t>
            </a:r>
            <a:endParaRPr sz="5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9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This is a private </a:t>
            </a:r>
            <a:b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3100" u="sng"/>
              <a:t>invite only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31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mastermind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Not anyone</a:t>
            </a: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just join even if they wanted to</a:t>
            </a:r>
            <a:endParaRPr sz="31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1"/>
          <p:cNvSpPr txBox="1"/>
          <p:nvPr>
            <p:ph type="title"/>
          </p:nvPr>
        </p:nvSpPr>
        <p:spPr>
          <a:xfrm>
            <a:off x="1151922" y="1788616"/>
            <a:ext cx="6840155" cy="1566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" sz="3100"/>
              <a:t>The </a:t>
            </a:r>
            <a:r>
              <a:rPr b="1" lang="en" sz="3100" u="sng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way to get in</a:t>
            </a:r>
            <a:r>
              <a:rPr lang="en" sz="3100"/>
              <a:t> is to be invited by one of the Admins…</a:t>
            </a:r>
            <a:endParaRPr sz="3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02"/>
          <p:cNvSpPr txBox="1"/>
          <p:nvPr>
            <p:ph type="title"/>
          </p:nvPr>
        </p:nvSpPr>
        <p:spPr>
          <a:xfrm>
            <a:off x="899715" y="1940719"/>
            <a:ext cx="7344571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</a:pPr>
            <a:r>
              <a:rPr lang="en" sz="3100"/>
              <a:t>and since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I’m the founding member</a:t>
            </a:r>
            <a:r>
              <a:rPr lang="en" sz="3100"/>
              <a:t>, and see that you’re invested in your success</a:t>
            </a:r>
            <a:endParaRPr sz="31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3"/>
          <p:cNvSpPr txBox="1"/>
          <p:nvPr>
            <p:ph type="title"/>
          </p:nvPr>
        </p:nvSpPr>
        <p:spPr>
          <a:xfrm>
            <a:off x="1116762" y="2002761"/>
            <a:ext cx="6910476" cy="1137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I’m Inviting You To Join </a:t>
            </a:r>
            <a:r>
              <a:rPr b="1" lang="en" sz="3100"/>
              <a:t>The </a:t>
            </a:r>
            <a:r>
              <a:rPr b="1" lang="en" sz="3100">
                <a:solidFill>
                  <a:srgbClr val="FF00FF"/>
                </a:solidFill>
              </a:rPr>
              <a:t>[OTO 2 Name]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4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3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that invite comes with a few </a:t>
            </a:r>
            <a:r>
              <a:rPr b="1" lang="en" sz="3100" u="sng">
                <a:latin typeface="Helvetica Neue"/>
                <a:ea typeface="Helvetica Neue"/>
                <a:cs typeface="Helvetica Neue"/>
                <a:sym typeface="Helvetica Neue"/>
              </a:rPr>
              <a:t>conditions</a:t>
            </a:r>
            <a:endParaRPr sz="3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5"/>
          <p:cNvSpPr txBox="1"/>
          <p:nvPr>
            <p:ph type="title"/>
          </p:nvPr>
        </p:nvSpPr>
        <p:spPr>
          <a:xfrm>
            <a:off x="670185" y="1784784"/>
            <a:ext cx="7803631" cy="1573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What we talk about in the mastermind</a:t>
            </a:r>
            <a:r>
              <a:rPr lang="en" sz="3100"/>
              <a:t> </a:t>
            </a:r>
            <a:endParaRPr sz="3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</a:pPr>
            <a:r>
              <a:rPr lang="en" sz="3100"/>
              <a:t>- stays in the mastermind </a:t>
            </a:r>
            <a:endParaRPr sz="31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6"/>
          <p:cNvSpPr txBox="1"/>
          <p:nvPr>
            <p:ph type="title"/>
          </p:nvPr>
        </p:nvSpPr>
        <p:spPr>
          <a:xfrm>
            <a:off x="914374" y="1806848"/>
            <a:ext cx="7315252" cy="152980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If anyone sees you publicly sharing what’s discussed in the mastermind </a:t>
            </a:r>
            <a:br>
              <a:rPr lang="en" sz="3100"/>
            </a:br>
            <a:r>
              <a:rPr lang="en" sz="3100"/>
              <a:t>-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you’ll be banned</a:t>
            </a:r>
            <a:endParaRPr sz="31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7"/>
          <p:cNvSpPr txBox="1"/>
          <p:nvPr>
            <p:ph type="title"/>
          </p:nvPr>
        </p:nvSpPr>
        <p:spPr>
          <a:xfrm>
            <a:off x="905500" y="1689831"/>
            <a:ext cx="7332999" cy="1763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</a:pPr>
            <a:r>
              <a:rPr lang="en" sz="3100"/>
              <a:t>If someone gives you a resource that’s meant for your benefit -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can’t share that resource with anyone else</a:t>
            </a:r>
            <a:r>
              <a:rPr lang="en" sz="3100"/>
              <a:t>, that’s </a:t>
            </a:r>
            <a:br>
              <a:rPr lang="en" sz="3100"/>
            </a:br>
            <a:r>
              <a:rPr lang="en" sz="3100"/>
              <a:t>for you only</a:t>
            </a:r>
            <a:endParaRPr sz="31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8"/>
          <p:cNvSpPr txBox="1"/>
          <p:nvPr>
            <p:ph type="title"/>
          </p:nvPr>
        </p:nvSpPr>
        <p:spPr>
          <a:xfrm>
            <a:off x="785080" y="1566528"/>
            <a:ext cx="7573840" cy="2010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If someone connects you with someone else or makes an introduction</a:t>
            </a:r>
            <a:r>
              <a:rPr lang="en" sz="3100"/>
              <a:t> - then that’s for you and you only - passing off that new contact to others outside of the mastermind is against the rules</a:t>
            </a:r>
            <a:endParaRPr sz="31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9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100"/>
              <a:t>If someone needs help and you can offer it to them -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then you’re obligated to help them out</a:t>
            </a:r>
            <a:endParaRPr sz="31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0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That’s it…</a:t>
            </a:r>
            <a:endParaRPr sz="31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11"/>
          <p:cNvSpPr txBox="1"/>
          <p:nvPr>
            <p:ph type="title"/>
          </p:nvPr>
        </p:nvSpPr>
        <p:spPr>
          <a:xfrm>
            <a:off x="1323521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Pretty simple.</a:t>
            </a:r>
            <a:endParaRPr sz="5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12"/>
          <p:cNvSpPr txBox="1"/>
          <p:nvPr>
            <p:ph type="title"/>
          </p:nvPr>
        </p:nvSpPr>
        <p:spPr>
          <a:xfrm>
            <a:off x="867475" y="1942095"/>
            <a:ext cx="7409050" cy="1259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And There’s </a:t>
            </a:r>
            <a:r>
              <a:rPr b="1" lang="en" sz="3100">
                <a:solidFill>
                  <a:srgbClr val="B41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More Condition</a:t>
            </a:r>
            <a:r>
              <a:rPr lang="en" sz="3100"/>
              <a:t> To Make Sure You’re Really Committed To This Mastermind</a:t>
            </a:r>
            <a:endParaRPr sz="31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3"/>
          <p:cNvSpPr txBox="1"/>
          <p:nvPr>
            <p:ph type="title"/>
          </p:nvPr>
        </p:nvSpPr>
        <p:spPr>
          <a:xfrm>
            <a:off x="939954" y="1842436"/>
            <a:ext cx="7264092" cy="1458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500"/>
              <a:t>And this single condition is going to tell me that you’re really in</a:t>
            </a:r>
            <a:endParaRPr sz="5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4"/>
          <p:cNvSpPr txBox="1"/>
          <p:nvPr>
            <p:ph type="title"/>
          </p:nvPr>
        </p:nvSpPr>
        <p:spPr>
          <a:xfrm>
            <a:off x="829728" y="2192517"/>
            <a:ext cx="7484543" cy="758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2600"/>
              <a:t>And that is the initiation fee to the mastermind</a:t>
            </a:r>
            <a:endParaRPr sz="5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15"/>
          <p:cNvSpPr txBox="1"/>
          <p:nvPr>
            <p:ph type="title"/>
          </p:nvPr>
        </p:nvSpPr>
        <p:spPr>
          <a:xfrm>
            <a:off x="1034125" y="1701105"/>
            <a:ext cx="7075750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Which we basically put in place to filter out everyone who isn’t serious</a:t>
            </a:r>
            <a:endParaRPr sz="5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6"/>
          <p:cNvSpPr txBox="1"/>
          <p:nvPr>
            <p:ph type="title"/>
          </p:nvPr>
        </p:nvSpPr>
        <p:spPr>
          <a:xfrm>
            <a:off x="899715" y="2052712"/>
            <a:ext cx="7344571" cy="1038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" sz="3200"/>
              <a:t>when it’s free you get all kinds people in there</a:t>
            </a:r>
            <a:endParaRPr sz="5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17"/>
          <p:cNvSpPr txBox="1"/>
          <p:nvPr>
            <p:ph type="title"/>
          </p:nvPr>
        </p:nvSpPr>
        <p:spPr>
          <a:xfrm>
            <a:off x="998685" y="2078366"/>
            <a:ext cx="7146630" cy="986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2400"/>
              <a:t>when there is a fee, regardless of how big it is, you automatically filter out all the tire kickers</a:t>
            </a:r>
            <a:endParaRPr sz="5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18"/>
          <p:cNvSpPr txBox="1"/>
          <p:nvPr>
            <p:ph type="title"/>
          </p:nvPr>
        </p:nvSpPr>
        <p:spPr>
          <a:xfrm>
            <a:off x="1441170" y="1701105"/>
            <a:ext cx="6261660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all we’re asking for a year’s membership</a:t>
            </a:r>
            <a:endParaRPr sz="5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9"/>
          <p:cNvSpPr txBox="1"/>
          <p:nvPr>
            <p:ph type="title"/>
          </p:nvPr>
        </p:nvSpPr>
        <p:spPr>
          <a:xfrm>
            <a:off x="1441170" y="1701105"/>
            <a:ext cx="6261660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is just </a:t>
            </a:r>
            <a:r>
              <a:rPr b="0" i="0" lang="en" sz="4200" u="none" cap="none" strike="noStrike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$67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20"/>
          <p:cNvSpPr txBox="1"/>
          <p:nvPr>
            <p:ph type="title"/>
          </p:nvPr>
        </p:nvSpPr>
        <p:spPr>
          <a:xfrm>
            <a:off x="1328284" y="1701105"/>
            <a:ext cx="6496958" cy="1741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i="1" lang="en" sz="3100">
                <a:latin typeface="Helvetica Neue"/>
                <a:ea typeface="Helvetica Neue"/>
                <a:cs typeface="Helvetica Neue"/>
                <a:sym typeface="Helvetica Neue"/>
              </a:rPr>
              <a:t>That’s it.</a:t>
            </a:r>
            <a:endParaRPr sz="31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1"/>
          <p:cNvSpPr txBox="1"/>
          <p:nvPr>
            <p:ph type="title"/>
          </p:nvPr>
        </p:nvSpPr>
        <p:spPr>
          <a:xfrm>
            <a:off x="705010" y="1731131"/>
            <a:ext cx="7733980" cy="1681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" sz="3100"/>
              <a:t>I’m Not Going To Sell You On This, 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Because If You Were Smart Enough</a:t>
            </a:r>
            <a:r>
              <a:rPr lang="en" sz="3100"/>
              <a:t> To Get This Far…</a:t>
            </a:r>
            <a:endParaRPr sz="31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22"/>
          <p:cNvSpPr txBox="1"/>
          <p:nvPr>
            <p:ph type="title"/>
          </p:nvPr>
        </p:nvSpPr>
        <p:spPr>
          <a:xfrm>
            <a:off x="1148425" y="1893987"/>
            <a:ext cx="6847150" cy="1355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Then you’ll be smart enough to join the </a:t>
            </a:r>
            <a:r>
              <a:rPr lang="en" sz="3100">
                <a:solidFill>
                  <a:srgbClr val="FF00FF"/>
                </a:solidFill>
              </a:rPr>
              <a:t>[OTO 2 Name]</a:t>
            </a:r>
            <a:r>
              <a:rPr b="1" lang="en" sz="31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1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23"/>
          <p:cNvSpPr txBox="1"/>
          <p:nvPr>
            <p:ph type="title"/>
          </p:nvPr>
        </p:nvSpPr>
        <p:spPr>
          <a:xfrm>
            <a:off x="1048375" y="1934617"/>
            <a:ext cx="7047249" cy="1274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2800"/>
              <a:t>And If you do join and you feel that this is not 1,000% of the value you’re getting</a:t>
            </a:r>
            <a:endParaRPr sz="5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24"/>
          <p:cNvSpPr txBox="1"/>
          <p:nvPr>
            <p:ph type="title"/>
          </p:nvPr>
        </p:nvSpPr>
        <p:spPr>
          <a:xfrm>
            <a:off x="1090717" y="1654485"/>
            <a:ext cx="6962566" cy="1834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"/>
              <a:buNone/>
            </a:pPr>
            <a:r>
              <a:rPr lang="en" sz="3900"/>
              <a:t>then let me know and I’ll refund you your initiation fee</a:t>
            </a:r>
            <a:endParaRPr sz="5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25"/>
          <p:cNvSpPr txBox="1"/>
          <p:nvPr>
            <p:ph type="title"/>
          </p:nvPr>
        </p:nvSpPr>
        <p:spPr>
          <a:xfrm>
            <a:off x="775574" y="1781528"/>
            <a:ext cx="7592853" cy="1580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lang="en" sz="3100"/>
              <a:t>Hit the upgrade button below and you’ll receive an email with your invitation and instructions on joining the </a:t>
            </a:r>
            <a:r>
              <a:rPr b="1" lang="en" sz="3100">
                <a:solidFill>
                  <a:srgbClr val="FF00FF"/>
                </a:solidFill>
              </a:rPr>
              <a:t>[OTO 2 Name]</a:t>
            </a:r>
            <a:endParaRPr sz="31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26"/>
          <p:cNvSpPr txBox="1"/>
          <p:nvPr>
            <p:ph type="title"/>
          </p:nvPr>
        </p:nvSpPr>
        <p:spPr>
          <a:xfrm>
            <a:off x="1028842" y="2041810"/>
            <a:ext cx="7086316" cy="105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lang="en" sz="3700"/>
              <a:t>I’ll talk to you in the mastermind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