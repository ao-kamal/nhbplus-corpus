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3716000" cx="2438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  <p:embeddedFont>
      <p:font typeface="Helvetica Neue 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HelveticaNeueLight-regular.fntdata"/><Relationship Id="rId16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19" Type="http://schemas.openxmlformats.org/officeDocument/2006/relationships/font" Target="fonts/HelveticaNeueLight-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6231433" y="863203"/>
            <a:ext cx="17439682" cy="11626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  <a:noFill/>
          <a:ln>
            <a:noFill/>
          </a:ln>
        </p:spPr>
        <p:txBody>
          <a:bodyPr anchorCtr="0" anchor="b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Helvetica Neue"/>
              <a:buNone/>
              <a:defRPr sz="52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578485" lvl="0" marL="4572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1pPr>
            <a:lvl2pPr indent="-578485" lvl="1" marL="9144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2pPr>
            <a:lvl3pPr indent="-578485" lvl="2" marL="13716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3pPr>
            <a:lvl4pPr indent="-578485" lvl="3" marL="18288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4pPr>
            <a:lvl5pPr indent="-578485" lvl="4" marL="2286000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Helvetica Neue"/>
              <a:buChar char="•"/>
              <a:defRPr sz="3800"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4387453" y="1785937"/>
            <a:ext cx="15609095" cy="10144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394335" lvl="0" marL="457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-291704" y="1250156"/>
            <a:ext cx="16850319" cy="11233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i="1" sz="3200"/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Helvetica Neue"/>
              <a:buNone/>
              <a:defRPr sz="4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94335" lvl="1" marL="914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1712269" y="0"/>
            <a:ext cx="20959464" cy="13983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87453" y="357187"/>
            <a:ext cx="15609095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b="0" i="0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87453" y="3643312"/>
            <a:ext cx="15609095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Helvetica Neue"/>
              <a:buChar char="•"/>
              <a:defRPr b="0" i="0" sz="4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 Light"/>
              <a:buNone/>
              <a:defRPr b="0" i="0" sz="2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Helvetica Neue"/>
              <a:buNone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for whatever reason</a:t>
            </a:r>
            <a:r>
              <a:rPr lang="en-US" sz="9744"/>
              <a:t> - </a:t>
            </a:r>
            <a:r>
              <a:rPr lang="en-US" u="sng"/>
              <a:t>you didn't get the </a:t>
            </a:r>
            <a:r>
              <a:rPr lang="en-US" u="sng">
                <a:solidFill>
                  <a:srgbClr val="FF00FF"/>
                </a:solidFill>
              </a:rPr>
              <a:t>[OTO 1 NAME HERE]</a:t>
            </a:r>
            <a:r>
              <a:rPr lang="en-US" sz="9744"/>
              <a:t>...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00"/>
              <a:buFont typeface="Helvetica Neue"/>
              <a:buNone/>
            </a:pPr>
            <a:r>
              <a:rPr i="1" lang="en-US">
                <a:latin typeface="Helvetica Neue"/>
                <a:ea typeface="Helvetica Neue"/>
                <a:cs typeface="Helvetica Neue"/>
                <a:sym typeface="Helvetica Neue"/>
              </a:rPr>
              <a:t>Maybe</a:t>
            </a:r>
            <a:r>
              <a:rPr lang="en-US" sz="9744"/>
              <a:t> that reason is that </a:t>
            </a:r>
            <a:r>
              <a:rPr lang="en-US" u="sng"/>
              <a:t>you weren't fully committed</a:t>
            </a:r>
            <a:r>
              <a:rPr lang="en-US" sz="9744"/>
              <a:t>...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925470" y="4989462"/>
            <a:ext cx="20533060" cy="3737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...or maybe </a:t>
            </a:r>
            <a:r>
              <a:rPr lang="en-US" u="sng"/>
              <a:t>you weren't quite sure it was for you</a:t>
            </a:r>
            <a:r>
              <a:rPr b="0" i="0" lang="en-US" sz="1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0" i="1" lang="en-US" sz="11200" u="sng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...or maybe the price got in the way.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529390" y="4167385"/>
            <a:ext cx="17325221" cy="5381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12"/>
              <a:buFont typeface="Helvetica Neue"/>
              <a:buNone/>
            </a:pPr>
            <a:r>
              <a:rPr lang="en-US" sz="9200"/>
              <a:t>Well, </a:t>
            </a:r>
            <a:r>
              <a:rPr b="1" lang="en-US" sz="9200">
                <a:latin typeface="Helvetica Neue"/>
                <a:ea typeface="Helvetica Neue"/>
                <a:cs typeface="Helvetica Neue"/>
                <a:sym typeface="Helvetica Neue"/>
              </a:rPr>
              <a:t>whatever the reason</a:t>
            </a:r>
            <a:r>
              <a:rPr lang="en-US" sz="9200"/>
              <a:t> is...that's ok, because </a:t>
            </a:r>
            <a:r>
              <a:rPr lang="en-US" sz="9200" u="sng">
                <a:solidFill>
                  <a:srgbClr val="B41600"/>
                </a:solidFill>
              </a:rPr>
              <a:t>I'm here to offer you a </a:t>
            </a:r>
            <a:r>
              <a:rPr lang="en-US" sz="9200" u="sng">
                <a:solidFill>
                  <a:srgbClr val="FF00FF"/>
                </a:solidFill>
              </a:rPr>
              <a:t>[DISCOUNT/PAYMENT PLAN]</a:t>
            </a:r>
            <a:r>
              <a:rPr lang="en-US" sz="9200"/>
              <a:t> on the </a:t>
            </a:r>
            <a:r>
              <a:rPr lang="en-US" sz="9200">
                <a:solidFill>
                  <a:srgbClr val="FF00FF"/>
                </a:solidFill>
              </a:rPr>
              <a:t>[OTO 1 NAME]</a:t>
            </a:r>
            <a:r>
              <a:rPr lang="en-US" sz="9200"/>
              <a:t>.</a:t>
            </a:r>
            <a:endParaRPr sz="9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44"/>
              <a:buFont typeface="Helvetica Neue"/>
              <a:buNone/>
            </a:pPr>
            <a:r>
              <a:rPr lang="en-US" sz="9744"/>
              <a:t>That means...instead of paying </a:t>
            </a:r>
            <a:r>
              <a:rPr lang="en-US" sz="9744">
                <a:solidFill>
                  <a:srgbClr val="FF00FF"/>
                </a:solidFill>
              </a:rPr>
              <a:t>$97</a:t>
            </a:r>
            <a:r>
              <a:rPr lang="en-US" sz="9744"/>
              <a:t> - </a:t>
            </a:r>
            <a:r>
              <a:rPr b="1" lang="en-US" u="sng">
                <a:latin typeface="Helvetica Neue"/>
                <a:ea typeface="Helvetica Neue"/>
                <a:cs typeface="Helvetica Neue"/>
                <a:sym typeface="Helvetica Neue"/>
              </a:rPr>
              <a:t>it's going to be just </a:t>
            </a:r>
            <a:r>
              <a:rPr b="1" lang="en-US" u="sng">
                <a:solidFill>
                  <a:srgbClr val="FF00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payment of $</a:t>
            </a:r>
            <a:r>
              <a:rPr b="1" lang="en-US" u="sng">
                <a:solidFill>
                  <a:srgbClr val="FF00FF"/>
                </a:solidFill>
              </a:rPr>
              <a:t>47</a:t>
            </a:r>
            <a:r>
              <a:rPr lang="en-US" sz="9744"/>
              <a:t>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2939535" y="5518646"/>
            <a:ext cx="18504930" cy="267870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</a:pP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That's it.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3529390" y="4536281"/>
            <a:ext cx="17325221" cy="4643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Helvetica Neue"/>
              <a:buNone/>
            </a:pPr>
            <a:r>
              <a:rPr lang="en-US" u="sng"/>
              <a:t>Hit the button below</a:t>
            </a:r>
            <a:r>
              <a:rPr lang="en-US" sz="9968"/>
              <a:t> to grab this </a:t>
            </a:r>
            <a:r>
              <a:rPr b="1" lang="en-US">
                <a:latin typeface="Helvetica Neue"/>
                <a:ea typeface="Helvetica Neue"/>
                <a:cs typeface="Helvetica Neue"/>
                <a:sym typeface="Helvetica Neue"/>
              </a:rPr>
              <a:t>one time</a:t>
            </a:r>
            <a:r>
              <a:rPr lang="en-US" sz="9968"/>
              <a:t> </a:t>
            </a:r>
            <a:r>
              <a:rPr lang="en-US" sz="9968">
                <a:solidFill>
                  <a:srgbClr val="FF00FF"/>
                </a:solidFill>
              </a:rPr>
              <a:t>50% discount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